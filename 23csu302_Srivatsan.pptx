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 (MS)" panose="020B0604020202020204" charset="0"/>
      <p:regular r:id="rId13"/>
    </p:embeddedFont>
    <p:embeddedFont>
      <p:font typeface="Calibri (MS) Italics" panose="020B0604020202020204" charset="0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Poppins Light" panose="00000400000000000000" pitchFamily="2" charset="0"/>
      <p:regular r:id="rId19"/>
    </p:embeddedFont>
    <p:embeddedFont>
      <p:font typeface="Roboto" panose="02000000000000000000" pitchFamily="2" charset="0"/>
      <p:regular r:id="rId20"/>
    </p:embeddedFont>
    <p:embeddedFont>
      <p:font typeface="Roboto Bold" panose="02000000000000000000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irresolve-ai-customer-resolution-agent-dd9pryy2fj6e7txypcyxey.streamlit.app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hyperlink" Target="https://github.com/srivatsan1467/AirResolve-AI-Customer-Resolution-Agent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7829" cy="10287000"/>
            <a:chOff x="0" y="0"/>
            <a:chExt cx="9143771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3746" cy="13716000"/>
            </a:xfrm>
            <a:custGeom>
              <a:avLst/>
              <a:gdLst/>
              <a:ahLst/>
              <a:cxnLst/>
              <a:rect l="l" t="t" r="r" b="b"/>
              <a:pathLst>
                <a:path w="9143746" h="13716000">
                  <a:moveTo>
                    <a:pt x="0" y="0"/>
                  </a:moveTo>
                  <a:lnTo>
                    <a:pt x="9143746" y="0"/>
                  </a:lnTo>
                  <a:lnTo>
                    <a:pt x="91437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038" y="2847823"/>
            <a:ext cx="9445285" cy="1736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26"/>
              </a:lnSpc>
            </a:pPr>
            <a:r>
              <a:rPr lang="en-US" sz="5550" dirty="0" err="1">
                <a:solidFill>
                  <a:srgbClr val="F2F2F3"/>
                </a:solidFill>
                <a:latin typeface="Calibri (MS)"/>
                <a:ea typeface="Calibri (MS)"/>
                <a:cs typeface="Calibri (MS)"/>
                <a:sym typeface="Calibri (MS)"/>
              </a:rPr>
              <a:t>AirResolve</a:t>
            </a:r>
            <a:r>
              <a:rPr lang="en-US" sz="5550" dirty="0">
                <a:solidFill>
                  <a:srgbClr val="F2F2F3"/>
                </a:solidFill>
                <a:latin typeface="Calibri (MS)"/>
                <a:ea typeface="Calibri (MS)"/>
                <a:cs typeface="Calibri (MS)"/>
                <a:sym typeface="Calibri (MS)"/>
              </a:rPr>
              <a:t>: AI-Powered Customer Resolution Agent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038" y="5959526"/>
            <a:ext cx="10359666" cy="577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 i="1" dirty="0">
                <a:solidFill>
                  <a:srgbClr val="E5E0D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 Policy-Grounded Intelligent Agent for Airline Disruption Resolution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850038" y="6855914"/>
            <a:ext cx="2781681" cy="430711"/>
            <a:chOff x="0" y="0"/>
            <a:chExt cx="3708908" cy="5742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08908" cy="574294"/>
            </a:xfrm>
            <a:custGeom>
              <a:avLst/>
              <a:gdLst/>
              <a:ahLst/>
              <a:cxnLst/>
              <a:rect l="l" t="t" r="r" b="b"/>
              <a:pathLst>
                <a:path w="3708908" h="57429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581908" y="0"/>
                  </a:lnTo>
                  <a:cubicBezTo>
                    <a:pt x="3652012" y="0"/>
                    <a:pt x="3708908" y="56896"/>
                    <a:pt x="3708908" y="127000"/>
                  </a:cubicBezTo>
                  <a:lnTo>
                    <a:pt x="3708908" y="447294"/>
                  </a:lnTo>
                  <a:cubicBezTo>
                    <a:pt x="3708908" y="517398"/>
                    <a:pt x="3652012" y="574294"/>
                    <a:pt x="3581908" y="574294"/>
                  </a:cubicBezTo>
                  <a:lnTo>
                    <a:pt x="127000" y="574294"/>
                  </a:lnTo>
                  <a:cubicBezTo>
                    <a:pt x="56896" y="574294"/>
                    <a:pt x="0" y="517398"/>
                    <a:pt x="0" y="447294"/>
                  </a:cubicBezTo>
                  <a:close/>
                </a:path>
              </a:pathLst>
            </a:custGeom>
            <a:solidFill>
              <a:srgbClr val="252528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8020145" y="6912321"/>
            <a:ext cx="3355838" cy="289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725">
                <a:solidFill>
                  <a:srgbClr val="E5E0DF"/>
                </a:solidFill>
                <a:latin typeface="Calibri (MS)"/>
                <a:ea typeface="Calibri (MS)"/>
                <a:cs typeface="Calibri (MS)"/>
                <a:sym typeface="Calibri (MS)"/>
              </a:rPr>
              <a:t>AIONOS ASSIGNMENT 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768641" y="6851152"/>
            <a:ext cx="2668419" cy="440236"/>
            <a:chOff x="0" y="0"/>
            <a:chExt cx="3557892" cy="58698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57778" cy="586994"/>
            </a:xfrm>
            <a:custGeom>
              <a:avLst/>
              <a:gdLst/>
              <a:ahLst/>
              <a:cxnLst/>
              <a:rect l="l" t="t" r="r" b="b"/>
              <a:pathLst>
                <a:path w="3557778" h="586994">
                  <a:moveTo>
                    <a:pt x="0" y="129794"/>
                  </a:moveTo>
                  <a:cubicBezTo>
                    <a:pt x="0" y="58166"/>
                    <a:pt x="58166" y="0"/>
                    <a:pt x="129794" y="0"/>
                  </a:cubicBezTo>
                  <a:lnTo>
                    <a:pt x="3427984" y="0"/>
                  </a:lnTo>
                  <a:cubicBezTo>
                    <a:pt x="3499739" y="0"/>
                    <a:pt x="3557778" y="58166"/>
                    <a:pt x="3557778" y="129794"/>
                  </a:cubicBezTo>
                  <a:lnTo>
                    <a:pt x="3557778" y="457200"/>
                  </a:lnTo>
                  <a:cubicBezTo>
                    <a:pt x="3557778" y="528955"/>
                    <a:pt x="3499612" y="586994"/>
                    <a:pt x="3427984" y="586994"/>
                  </a:cubicBezTo>
                  <a:lnTo>
                    <a:pt x="129794" y="586994"/>
                  </a:lnTo>
                  <a:cubicBezTo>
                    <a:pt x="58166" y="586994"/>
                    <a:pt x="0" y="528828"/>
                    <a:pt x="0" y="45720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8103" r="-3" b="-68101"/>
              </a:stretch>
            </a:blipFill>
            <a:ln w="9525" cap="sq">
              <a:solidFill>
                <a:srgbClr val="F2F2F3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0943501" y="6912321"/>
            <a:ext cx="3233061" cy="289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725">
                <a:solidFill>
                  <a:srgbClr val="F2F2F3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+ STREAMLIT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569210" y="6851152"/>
            <a:ext cx="3476387" cy="440236"/>
            <a:chOff x="0" y="0"/>
            <a:chExt cx="4635182" cy="58698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635119" cy="586994"/>
            </a:xfrm>
            <a:custGeom>
              <a:avLst/>
              <a:gdLst/>
              <a:ahLst/>
              <a:cxnLst/>
              <a:rect l="l" t="t" r="r" b="b"/>
              <a:pathLst>
                <a:path w="4635119" h="586994">
                  <a:moveTo>
                    <a:pt x="0" y="129794"/>
                  </a:moveTo>
                  <a:cubicBezTo>
                    <a:pt x="0" y="58166"/>
                    <a:pt x="58166" y="0"/>
                    <a:pt x="129794" y="0"/>
                  </a:cubicBezTo>
                  <a:lnTo>
                    <a:pt x="4505325" y="0"/>
                  </a:lnTo>
                  <a:cubicBezTo>
                    <a:pt x="4577080" y="0"/>
                    <a:pt x="4635119" y="58166"/>
                    <a:pt x="4635119" y="129794"/>
                  </a:cubicBezTo>
                  <a:lnTo>
                    <a:pt x="4635119" y="457200"/>
                  </a:lnTo>
                  <a:cubicBezTo>
                    <a:pt x="4635119" y="528955"/>
                    <a:pt x="4576953" y="586994"/>
                    <a:pt x="4505325" y="586994"/>
                  </a:cubicBezTo>
                  <a:lnTo>
                    <a:pt x="129794" y="586994"/>
                  </a:lnTo>
                  <a:cubicBezTo>
                    <a:pt x="58166" y="586994"/>
                    <a:pt x="0" y="528828"/>
                    <a:pt x="0" y="45720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3864" r="-1" b="-103861"/>
              </a:stretch>
            </a:blipFill>
            <a:ln w="9525" cap="sq">
              <a:solidFill>
                <a:srgbClr val="F2F2F3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3744080" y="6912321"/>
            <a:ext cx="4041029" cy="289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725">
                <a:solidFill>
                  <a:srgbClr val="F2F2F3"/>
                </a:solidFill>
                <a:latin typeface="Calibri (MS)"/>
                <a:ea typeface="Calibri (MS)"/>
                <a:cs typeface="Calibri (MS)"/>
                <a:sym typeface="Calibri (MS)"/>
              </a:rPr>
              <a:t>AI / AUTOMATION PROTOTYPE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3D233-2C52-7479-BD33-9F4DF8EB41DE}"/>
              </a:ext>
            </a:extLst>
          </p:cNvPr>
          <p:cNvSpPr txBox="1"/>
          <p:nvPr/>
        </p:nvSpPr>
        <p:spPr>
          <a:xfrm>
            <a:off x="7850038" y="7766117"/>
            <a:ext cx="6857810" cy="510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71"/>
              </a:lnSpc>
            </a:pPr>
            <a:r>
              <a:rPr lang="en-US" sz="2400" i="1" dirty="0">
                <a:solidFill>
                  <a:srgbClr val="E5E0D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Made by: Srivatsan Raghavan (23csu302)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615315" y="9838487"/>
            <a:ext cx="1607763" cy="384048"/>
            <a:chOff x="0" y="0"/>
            <a:chExt cx="2143684" cy="512064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143633" cy="512064"/>
            </a:xfrm>
            <a:custGeom>
              <a:avLst/>
              <a:gdLst/>
              <a:ahLst/>
              <a:cxnLst/>
              <a:rect l="l" t="t" r="r" b="b"/>
              <a:pathLst>
                <a:path w="2143633" h="512064">
                  <a:moveTo>
                    <a:pt x="0" y="0"/>
                  </a:moveTo>
                  <a:lnTo>
                    <a:pt x="2143633" y="0"/>
                  </a:lnTo>
                  <a:lnTo>
                    <a:pt x="2143633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29714" y="0"/>
            <a:ext cx="6857829" cy="10287000"/>
            <a:chOff x="0" y="0"/>
            <a:chExt cx="9143771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3746" cy="13716000"/>
            </a:xfrm>
            <a:custGeom>
              <a:avLst/>
              <a:gdLst/>
              <a:ahLst/>
              <a:cxnLst/>
              <a:rect l="l" t="t" r="r" b="b"/>
              <a:pathLst>
                <a:path w="9143746" h="13716000">
                  <a:moveTo>
                    <a:pt x="0" y="0"/>
                  </a:moveTo>
                  <a:lnTo>
                    <a:pt x="9143746" y="0"/>
                  </a:lnTo>
                  <a:lnTo>
                    <a:pt x="91437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-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10" y="777631"/>
            <a:ext cx="9445285" cy="814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3"/>
              </a:lnSpc>
            </a:pPr>
            <a:r>
              <a:rPr lang="en-US" sz="4650" dirty="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Problem Statement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4248" y="2133752"/>
            <a:ext cx="8795518" cy="40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High-Volume Disruptions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4248" y="2599877"/>
            <a:ext cx="8795518" cy="76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8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Cancellations and delays generate multiple simultaneous customer requests — refunds, rebooking, hotels, lounge access, and compensation.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4248" y="4071195"/>
            <a:ext cx="8795518" cy="40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Policy Interpretation Burden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4248" y="4537319"/>
            <a:ext cx="8795518" cy="76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8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Support agents must interpret intent and apply airline policies consistently under time pressure, often with limited context.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4248" y="6008637"/>
            <a:ext cx="8795518" cy="40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Inconsistent Outcomes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4248" y="6474771"/>
            <a:ext cx="8795518" cy="76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8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Manual handling leads to inconsistent responses and unnecessary escalations, increasing operational cost and reducing customer trust.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4248" y="7946079"/>
            <a:ext cx="8795518" cy="40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Goal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4248" y="8412213"/>
            <a:ext cx="8795518" cy="76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8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Build an intelligent resolution agent that automates policy-grounded decisions and escalates only what requires human authority.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741607"/>
            <a:ext cx="1630311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AirResolve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354779"/>
            <a:ext cx="17217495" cy="355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20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 structured, policy-grounded pipeline that transforms a natural-language customer request into a clear, justified resolution — without inventing unavailable flights or unsupported compensation.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10" y="2400300"/>
            <a:ext cx="14630038" cy="7443340"/>
            <a:chOff x="0" y="0"/>
            <a:chExt cx="19506717" cy="109728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9506692" cy="10972800"/>
            </a:xfrm>
            <a:custGeom>
              <a:avLst/>
              <a:gdLst/>
              <a:ahLst/>
              <a:cxnLst/>
              <a:rect l="l" t="t" r="r" b="b"/>
              <a:pathLst>
                <a:path w="19506692" h="10972800">
                  <a:moveTo>
                    <a:pt x="0" y="0"/>
                  </a:moveTo>
                  <a:lnTo>
                    <a:pt x="19506692" y="0"/>
                  </a:lnTo>
                  <a:lnTo>
                    <a:pt x="19506692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1511941"/>
            <a:ext cx="16303114" cy="962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26"/>
              </a:lnSpc>
            </a:pPr>
            <a:r>
              <a:rPr lang="en-US" sz="555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Inputs, Data Sources &amp; Assumptions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8022" y="2899324"/>
            <a:ext cx="8214065" cy="5799534"/>
            <a:chOff x="0" y="0"/>
            <a:chExt cx="10952086" cy="77327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51972" cy="7732649"/>
            </a:xfrm>
            <a:custGeom>
              <a:avLst/>
              <a:gdLst/>
              <a:ahLst/>
              <a:cxnLst/>
              <a:rect l="l" t="t" r="r" b="b"/>
              <a:pathLst>
                <a:path w="10951972" h="7732649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79811" y="0"/>
                  </a:lnTo>
                  <a:cubicBezTo>
                    <a:pt x="10830179" y="0"/>
                    <a:pt x="10951972" y="121920"/>
                    <a:pt x="10951972" y="272161"/>
                  </a:cubicBezTo>
                  <a:lnTo>
                    <a:pt x="10951972" y="7460488"/>
                  </a:lnTo>
                  <a:cubicBezTo>
                    <a:pt x="10951972" y="7610856"/>
                    <a:pt x="10830052" y="7732649"/>
                    <a:pt x="10679811" y="7732649"/>
                  </a:cubicBezTo>
                  <a:lnTo>
                    <a:pt x="272161" y="7732649"/>
                  </a:lnTo>
                  <a:cubicBezTo>
                    <a:pt x="121920" y="7732649"/>
                    <a:pt x="0" y="7610856"/>
                    <a:pt x="0" y="7460488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71534" y="3144736"/>
            <a:ext cx="7647041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Inputs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534" y="3823545"/>
            <a:ext cx="7647041" cy="219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 identity &amp; booking reference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Flight status, delay duration &amp; cancellation reason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Loyalty tier &amp; fare difference (when provided)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Natural-language customer request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1534" y="6266555"/>
            <a:ext cx="7647041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Sources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1534" y="6945363"/>
            <a:ext cx="7647041" cy="165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Assignment 3 customer &amp; booking data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Supplied policy / rules data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data.json used by the prototype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168" y="3144736"/>
            <a:ext cx="7805690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Core Assumptions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168" y="3823545"/>
            <a:ext cx="7805690" cy="3558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The agent uses </a:t>
            </a:r>
            <a:r>
              <a:rPr lang="en-US" sz="2175" b="1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only</a:t>
            </a: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the supplied assignment data — no external APIs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Alternative flight availability is </a:t>
            </a:r>
            <a:r>
              <a:rPr lang="en-US" sz="2175" b="1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not assumed</a:t>
            </a: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when not provided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Policy limits determine whether an action can be automated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Requests outside agent authority are escalated to humans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615315" y="9838487"/>
            <a:ext cx="1607763" cy="384048"/>
            <a:chOff x="0" y="0"/>
            <a:chExt cx="2143684" cy="512064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143633" cy="512064"/>
            </a:xfrm>
            <a:custGeom>
              <a:avLst/>
              <a:gdLst/>
              <a:ahLst/>
              <a:cxnLst/>
              <a:rect l="l" t="t" r="r" b="b"/>
              <a:pathLst>
                <a:path w="2143633" h="512064">
                  <a:moveTo>
                    <a:pt x="0" y="0"/>
                  </a:moveTo>
                  <a:lnTo>
                    <a:pt x="2143633" y="0"/>
                  </a:lnTo>
                  <a:lnTo>
                    <a:pt x="2143633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29714" y="0"/>
            <a:ext cx="6857829" cy="10287000"/>
            <a:chOff x="0" y="0"/>
            <a:chExt cx="9143771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3746" cy="13716000"/>
            </a:xfrm>
            <a:custGeom>
              <a:avLst/>
              <a:gdLst/>
              <a:ahLst/>
              <a:cxnLst/>
              <a:rect l="l" t="t" r="r" b="b"/>
              <a:pathLst>
                <a:path w="9143746" h="13716000">
                  <a:moveTo>
                    <a:pt x="0" y="0"/>
                  </a:moveTo>
                  <a:lnTo>
                    <a:pt x="9143746" y="0"/>
                  </a:lnTo>
                  <a:lnTo>
                    <a:pt x="91437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-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10" y="715118"/>
            <a:ext cx="9445285" cy="1682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1"/>
              </a:lnSpc>
            </a:pPr>
            <a:r>
              <a:rPr lang="en-US" sz="5025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AI &amp; Intelligent Decision-Making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87447" y="2741562"/>
            <a:ext cx="4615786" cy="3052162"/>
            <a:chOff x="0" y="0"/>
            <a:chExt cx="6154382" cy="40695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154420" cy="4069588"/>
            </a:xfrm>
            <a:custGeom>
              <a:avLst/>
              <a:gdLst/>
              <a:ahLst/>
              <a:cxnLst/>
              <a:rect l="l" t="t" r="r" b="b"/>
              <a:pathLst>
                <a:path w="6154420" h="4069588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6010021" y="0"/>
                  </a:lnTo>
                  <a:cubicBezTo>
                    <a:pt x="6089777" y="0"/>
                    <a:pt x="6154420" y="64643"/>
                    <a:pt x="6154420" y="144399"/>
                  </a:cubicBezTo>
                  <a:lnTo>
                    <a:pt x="6154420" y="3925189"/>
                  </a:lnTo>
                  <a:cubicBezTo>
                    <a:pt x="6154420" y="4004945"/>
                    <a:pt x="6089777" y="4069588"/>
                    <a:pt x="6010021" y="4069588"/>
                  </a:cubicBezTo>
                  <a:lnTo>
                    <a:pt x="144399" y="4069588"/>
                  </a:lnTo>
                  <a:cubicBezTo>
                    <a:pt x="64643" y="4069588"/>
                    <a:pt x="0" y="4004945"/>
                    <a:pt x="0" y="3925189"/>
                  </a:cubicBezTo>
                  <a:close/>
                </a:path>
              </a:pathLst>
            </a:custGeom>
            <a:solidFill>
              <a:srgbClr val="3D3D42"/>
            </a:solidFill>
            <a:ln w="9525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258605" y="2974629"/>
            <a:ext cx="4073471" cy="43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Intent Detection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8605" y="3487045"/>
            <a:ext cx="4073471" cy="2025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Python text processing classifies requests: refund, rebooking, meal voucher, lounge access, hotel, upgrade, fare difference, or formal complaint.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826471" y="2741562"/>
            <a:ext cx="4615786" cy="3052162"/>
            <a:chOff x="0" y="0"/>
            <a:chExt cx="6154382" cy="40695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154420" cy="4069588"/>
            </a:xfrm>
            <a:custGeom>
              <a:avLst/>
              <a:gdLst/>
              <a:ahLst/>
              <a:cxnLst/>
              <a:rect l="l" t="t" r="r" b="b"/>
              <a:pathLst>
                <a:path w="6154420" h="4069588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6010021" y="0"/>
                  </a:lnTo>
                  <a:cubicBezTo>
                    <a:pt x="6089777" y="0"/>
                    <a:pt x="6154420" y="64643"/>
                    <a:pt x="6154420" y="144399"/>
                  </a:cubicBezTo>
                  <a:lnTo>
                    <a:pt x="6154420" y="3925189"/>
                  </a:lnTo>
                  <a:cubicBezTo>
                    <a:pt x="6154420" y="4004945"/>
                    <a:pt x="6089777" y="4069588"/>
                    <a:pt x="6010021" y="4069588"/>
                  </a:cubicBezTo>
                  <a:lnTo>
                    <a:pt x="144399" y="4069588"/>
                  </a:lnTo>
                  <a:cubicBezTo>
                    <a:pt x="64643" y="4069588"/>
                    <a:pt x="0" y="4004945"/>
                    <a:pt x="0" y="3925189"/>
                  </a:cubicBezTo>
                  <a:close/>
                </a:path>
              </a:pathLst>
            </a:custGeom>
            <a:solidFill>
              <a:srgbClr val="3D3D42"/>
            </a:solidFill>
            <a:ln w="9525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6097629" y="2974629"/>
            <a:ext cx="4073471" cy="84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Context-Aware Policy Reasoning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97629" y="3888429"/>
            <a:ext cx="4073471" cy="1634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Combines customer status, flight status, delay duration, cancellation reason, and requested action to evaluate applicable rules.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87447" y="6016971"/>
            <a:ext cx="9454810" cy="1867052"/>
            <a:chOff x="0" y="0"/>
            <a:chExt cx="12606414" cy="24894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606401" cy="2489454"/>
            </a:xfrm>
            <a:custGeom>
              <a:avLst/>
              <a:gdLst/>
              <a:ahLst/>
              <a:cxnLst/>
              <a:rect l="l" t="t" r="r" b="b"/>
              <a:pathLst>
                <a:path w="12606401" h="2489454">
                  <a:moveTo>
                    <a:pt x="0" y="144653"/>
                  </a:moveTo>
                  <a:cubicBezTo>
                    <a:pt x="0" y="64770"/>
                    <a:pt x="64770" y="0"/>
                    <a:pt x="144653" y="0"/>
                  </a:cubicBezTo>
                  <a:lnTo>
                    <a:pt x="12461748" y="0"/>
                  </a:lnTo>
                  <a:cubicBezTo>
                    <a:pt x="12541631" y="0"/>
                    <a:pt x="12606401" y="64770"/>
                    <a:pt x="12606401" y="144653"/>
                  </a:cubicBezTo>
                  <a:lnTo>
                    <a:pt x="12606401" y="2344801"/>
                  </a:lnTo>
                  <a:cubicBezTo>
                    <a:pt x="12606401" y="2424684"/>
                    <a:pt x="12541631" y="2489454"/>
                    <a:pt x="12461748" y="2489454"/>
                  </a:cubicBezTo>
                  <a:lnTo>
                    <a:pt x="144653" y="2489454"/>
                  </a:lnTo>
                  <a:cubicBezTo>
                    <a:pt x="64770" y="2489454"/>
                    <a:pt x="0" y="2424684"/>
                    <a:pt x="0" y="2344801"/>
                  </a:cubicBezTo>
                  <a:close/>
                </a:path>
              </a:pathLst>
            </a:custGeom>
            <a:solidFill>
              <a:srgbClr val="3D3D42"/>
            </a:solidFill>
            <a:ln w="9525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258605" y="6250038"/>
            <a:ext cx="8912495" cy="43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Controlled Resolution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8605" y="6762455"/>
            <a:ext cx="8912495" cy="85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Determines allowed action with explanation, or escalates when the request exceeds agent authority.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92210" y="8141198"/>
            <a:ext cx="9445285" cy="1354341"/>
            <a:chOff x="0" y="0"/>
            <a:chExt cx="12593714" cy="18057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593701" cy="1805813"/>
            </a:xfrm>
            <a:custGeom>
              <a:avLst/>
              <a:gdLst/>
              <a:ahLst/>
              <a:cxnLst/>
              <a:rect l="l" t="t" r="r" b="b"/>
              <a:pathLst>
                <a:path w="12593701" h="1805813">
                  <a:moveTo>
                    <a:pt x="0" y="143891"/>
                  </a:moveTo>
                  <a:cubicBezTo>
                    <a:pt x="0" y="64389"/>
                    <a:pt x="64389" y="0"/>
                    <a:pt x="143891" y="0"/>
                  </a:cubicBezTo>
                  <a:lnTo>
                    <a:pt x="12449810" y="0"/>
                  </a:lnTo>
                  <a:cubicBezTo>
                    <a:pt x="12529312" y="0"/>
                    <a:pt x="12593701" y="64389"/>
                    <a:pt x="12593701" y="143891"/>
                  </a:cubicBezTo>
                  <a:lnTo>
                    <a:pt x="12593701" y="1661922"/>
                  </a:lnTo>
                  <a:cubicBezTo>
                    <a:pt x="12593701" y="1741424"/>
                    <a:pt x="12529312" y="1805813"/>
                    <a:pt x="12449810" y="1805813"/>
                  </a:cubicBezTo>
                  <a:lnTo>
                    <a:pt x="143891" y="1805813"/>
                  </a:lnTo>
                  <a:cubicBezTo>
                    <a:pt x="64389" y="1805813"/>
                    <a:pt x="0" y="1741424"/>
                    <a:pt x="0" y="1661922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249080" y="8479927"/>
            <a:ext cx="321164" cy="256880"/>
            <a:chOff x="0" y="0"/>
            <a:chExt cx="428219" cy="342506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428244" cy="342519"/>
            </a:xfrm>
            <a:custGeom>
              <a:avLst/>
              <a:gdLst/>
              <a:ahLst/>
              <a:cxnLst/>
              <a:rect l="l" t="t" r="r" b="b"/>
              <a:pathLst>
                <a:path w="428244" h="342519">
                  <a:moveTo>
                    <a:pt x="0" y="0"/>
                  </a:moveTo>
                  <a:lnTo>
                    <a:pt x="428244" y="0"/>
                  </a:lnTo>
                  <a:lnTo>
                    <a:pt x="428244" y="342519"/>
                  </a:lnTo>
                  <a:lnTo>
                    <a:pt x="0" y="34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8" r="-355" b="3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827114" y="8371437"/>
            <a:ext cx="8353511" cy="85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This is a </a:t>
            </a:r>
            <a:r>
              <a:rPr lang="en-US" sz="195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Python-based policy and intent engine</a:t>
            </a:r>
            <a:r>
              <a:rPr lang="en-US" sz="19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— no external LLM, OpenAI API, Gemini, or LangChain is used in this prototype.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28808" y="208616"/>
            <a:ext cx="16303114" cy="437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800" dirty="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Complete Solution 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19274" y="689628"/>
            <a:ext cx="15030326" cy="7120872"/>
            <a:chOff x="0" y="0"/>
            <a:chExt cx="19506717" cy="109728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9506692" cy="10972800"/>
            </a:xfrm>
            <a:custGeom>
              <a:avLst/>
              <a:gdLst/>
              <a:ahLst/>
              <a:cxnLst/>
              <a:rect l="l" t="t" r="r" b="b"/>
              <a:pathLst>
                <a:path w="19506692" h="10972800">
                  <a:moveTo>
                    <a:pt x="0" y="0"/>
                  </a:moveTo>
                  <a:lnTo>
                    <a:pt x="19506692" y="0"/>
                  </a:lnTo>
                  <a:lnTo>
                    <a:pt x="19506692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28808" y="8069826"/>
            <a:ext cx="7978626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400" dirty="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Component Breakdown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9274" y="8310332"/>
            <a:ext cx="7978626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app.py — </a:t>
            </a:r>
            <a:r>
              <a:rPr lang="en-US" sz="1200" dirty="0" err="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Streamlit</a:t>
            </a: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UI</a:t>
            </a:r>
          </a:p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agent.py — Orchestration layer</a:t>
            </a:r>
          </a:p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policy_engine.py — Intent detection &amp; policy decisions</a:t>
            </a:r>
          </a:p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 dirty="0" err="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data.json</a:t>
            </a: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— Customer, booking &amp; policy data</a:t>
            </a:r>
          </a:p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test_agent.py — Automated test scenarios</a:t>
            </a:r>
          </a:p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 dirty="0">
                <a:solidFill>
                  <a:srgbClr val="E5E0DF"/>
                </a:solidFill>
                <a:latin typeface="Consolas"/>
                <a:ea typeface="Consolas"/>
                <a:cs typeface="Consolas"/>
                <a:sym typeface="Consolas"/>
              </a:rPr>
              <a:t>requirements.txt — Dependencies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62830" y="8069826"/>
            <a:ext cx="7978626" cy="2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400" dirty="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Design Principles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62830" y="8371644"/>
            <a:ext cx="7978626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Modular, testable components</a:t>
            </a:r>
          </a:p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Policy logic isolated from UI</a:t>
            </a:r>
          </a:p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JSON data layer — no external database</a:t>
            </a:r>
          </a:p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Clear separation of automation vs. escalation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19274" y="298694"/>
            <a:ext cx="1630311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Policy Evaluation &amp; Resolution Flow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19274" y="921391"/>
            <a:ext cx="14630038" cy="7117709"/>
            <a:chOff x="0" y="0"/>
            <a:chExt cx="19506717" cy="109728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9506692" cy="10972800"/>
            </a:xfrm>
            <a:custGeom>
              <a:avLst/>
              <a:gdLst/>
              <a:ahLst/>
              <a:cxnLst/>
              <a:rect l="l" t="t" r="r" b="b"/>
              <a:pathLst>
                <a:path w="19506692" h="10972800">
                  <a:moveTo>
                    <a:pt x="0" y="0"/>
                  </a:moveTo>
                  <a:lnTo>
                    <a:pt x="19506692" y="0"/>
                  </a:lnTo>
                  <a:lnTo>
                    <a:pt x="19506692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787617" y="8490823"/>
            <a:ext cx="7978626" cy="22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60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Cancellation Policy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7617" y="8792651"/>
            <a:ext cx="7978626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Full refund can be initiated automatically</a:t>
            </a:r>
          </a:p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Refund processed within </a:t>
            </a:r>
            <a:r>
              <a:rPr lang="en-US" sz="1200" b="1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7 business days</a:t>
            </a:r>
          </a:p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Business-class upgrade → requires human review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21639" y="8490823"/>
            <a:ext cx="7978626" cy="22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600" dirty="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Delay Policy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21639" y="8792651"/>
            <a:ext cx="7978626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Delay </a:t>
            </a:r>
            <a:r>
              <a:rPr lang="en-US" sz="1200" b="1" dirty="0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&gt;3 hours</a:t>
            </a: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: meal voucher + lounge access</a:t>
            </a:r>
          </a:p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Delay </a:t>
            </a:r>
            <a:r>
              <a:rPr lang="en-US" sz="1200" b="1" dirty="0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&gt;5 hours</a:t>
            </a: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: hotel for delayed hours only</a:t>
            </a:r>
          </a:p>
          <a:p>
            <a:pPr marL="190024" lvl="1" indent="-95012" algn="l">
              <a:lnSpc>
                <a:spcPts val="1260"/>
              </a:lnSpc>
              <a:buFont typeface="Arial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Fare waiver </a:t>
            </a:r>
            <a:r>
              <a:rPr lang="en-US" sz="1200" b="1" dirty="0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&gt;₹1,500</a:t>
            </a:r>
            <a:r>
              <a:rPr lang="en-US" sz="12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: supervisor approval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20" y="-16373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06040" y="439636"/>
            <a:ext cx="9445285" cy="1755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25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Implementation &amp; Validation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01278" y="2577113"/>
            <a:ext cx="4603432" cy="2834430"/>
            <a:chOff x="0" y="0"/>
            <a:chExt cx="6137910" cy="37792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37910" cy="3779266"/>
            </a:xfrm>
            <a:custGeom>
              <a:avLst/>
              <a:gdLst/>
              <a:ahLst/>
              <a:cxnLst/>
              <a:rect l="l" t="t" r="r" b="b"/>
              <a:pathLst>
                <a:path w="6137910" h="3779266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5986018" y="0"/>
                  </a:lnTo>
                  <a:cubicBezTo>
                    <a:pt x="6069838" y="0"/>
                    <a:pt x="6137910" y="67945"/>
                    <a:pt x="6137910" y="151892"/>
                  </a:cubicBezTo>
                  <a:lnTo>
                    <a:pt x="6137910" y="3627374"/>
                  </a:lnTo>
                  <a:cubicBezTo>
                    <a:pt x="6137910" y="3711194"/>
                    <a:pt x="6069965" y="3779266"/>
                    <a:pt x="5986018" y="3779266"/>
                  </a:cubicBezTo>
                  <a:lnTo>
                    <a:pt x="151892" y="3779266"/>
                  </a:lnTo>
                  <a:cubicBezTo>
                    <a:pt x="67945" y="3779266"/>
                    <a:pt x="0" y="3711194"/>
                    <a:pt x="0" y="3627374"/>
                  </a:cubicBezTo>
                  <a:close/>
                </a:path>
              </a:pathLst>
            </a:custGeom>
            <a:solidFill>
              <a:srgbClr val="3D3D42"/>
            </a:solidFill>
            <a:ln w="9525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285675" y="2832945"/>
            <a:ext cx="4034628" cy="411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25" dirty="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Test 1 - Priya Nair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5675" y="3362030"/>
            <a:ext cx="4034628" cy="176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Cancelled flight → Full refund eligibility confirmed. Business-class upgrade escalated (outside agent authority).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852655" y="2577113"/>
            <a:ext cx="4603432" cy="2834430"/>
            <a:chOff x="0" y="0"/>
            <a:chExt cx="6137910" cy="377924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137910" cy="3779266"/>
            </a:xfrm>
            <a:custGeom>
              <a:avLst/>
              <a:gdLst/>
              <a:ahLst/>
              <a:cxnLst/>
              <a:rect l="l" t="t" r="r" b="b"/>
              <a:pathLst>
                <a:path w="6137910" h="3779266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5986018" y="0"/>
                  </a:lnTo>
                  <a:cubicBezTo>
                    <a:pt x="6069838" y="0"/>
                    <a:pt x="6137910" y="67945"/>
                    <a:pt x="6137910" y="151892"/>
                  </a:cubicBezTo>
                  <a:lnTo>
                    <a:pt x="6137910" y="3627374"/>
                  </a:lnTo>
                  <a:cubicBezTo>
                    <a:pt x="6137910" y="3711194"/>
                    <a:pt x="6069965" y="3779266"/>
                    <a:pt x="5986018" y="3779266"/>
                  </a:cubicBezTo>
                  <a:lnTo>
                    <a:pt x="151892" y="3779266"/>
                  </a:lnTo>
                  <a:cubicBezTo>
                    <a:pt x="67945" y="3779266"/>
                    <a:pt x="0" y="3711194"/>
                    <a:pt x="0" y="3627374"/>
                  </a:cubicBezTo>
                  <a:close/>
                </a:path>
              </a:pathLst>
            </a:custGeom>
            <a:solidFill>
              <a:srgbClr val="3D3D42"/>
            </a:solidFill>
            <a:ln w="9525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6137053" y="2832945"/>
            <a:ext cx="4034628" cy="411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25" dirty="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Test 2 - Arvind Kulkarni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37053" y="3362030"/>
            <a:ext cx="4034628" cy="176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4-hour delay → Meal voucher + lounge access eligible. Hotel </a:t>
            </a:r>
            <a:r>
              <a:rPr lang="en-US" sz="2100" b="1" dirty="0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not</a:t>
            </a:r>
            <a:r>
              <a:rPr lang="en-US" sz="21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eligible — delay does not exceed </a:t>
            </a:r>
            <a:r>
              <a:rPr lang="en-US" sz="2100" b="1" dirty="0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5 hours</a:t>
            </a:r>
            <a:r>
              <a:rPr lang="en-US" sz="21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01278" y="5659488"/>
            <a:ext cx="9454810" cy="1989982"/>
            <a:chOff x="0" y="0"/>
            <a:chExt cx="12606414" cy="26533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606400" cy="2653284"/>
            </a:xfrm>
            <a:custGeom>
              <a:avLst/>
              <a:gdLst/>
              <a:ahLst/>
              <a:cxnLst/>
              <a:rect l="l" t="t" r="r" b="b"/>
              <a:pathLst>
                <a:path w="12606400" h="2653284">
                  <a:moveTo>
                    <a:pt x="0" y="152019"/>
                  </a:moveTo>
                  <a:cubicBezTo>
                    <a:pt x="0" y="68072"/>
                    <a:pt x="68072" y="0"/>
                    <a:pt x="152019" y="0"/>
                  </a:cubicBezTo>
                  <a:lnTo>
                    <a:pt x="12454382" y="0"/>
                  </a:lnTo>
                  <a:cubicBezTo>
                    <a:pt x="12538328" y="0"/>
                    <a:pt x="12606400" y="68072"/>
                    <a:pt x="12606400" y="152019"/>
                  </a:cubicBezTo>
                  <a:lnTo>
                    <a:pt x="12606400" y="2501265"/>
                  </a:lnTo>
                  <a:cubicBezTo>
                    <a:pt x="12606400" y="2585212"/>
                    <a:pt x="12538328" y="2653284"/>
                    <a:pt x="12454382" y="2653284"/>
                  </a:cubicBezTo>
                  <a:lnTo>
                    <a:pt x="152019" y="2653284"/>
                  </a:lnTo>
                  <a:cubicBezTo>
                    <a:pt x="68072" y="2653284"/>
                    <a:pt x="0" y="2585212"/>
                    <a:pt x="0" y="2501265"/>
                  </a:cubicBezTo>
                  <a:close/>
                </a:path>
              </a:pathLst>
            </a:custGeom>
            <a:solidFill>
              <a:srgbClr val="3D3D42"/>
            </a:solidFill>
            <a:ln w="9525" cap="sq">
              <a:solidFill>
                <a:srgbClr val="56565B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285675" y="5915320"/>
            <a:ext cx="8886006" cy="411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25" dirty="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Test 3 - Meher Kaur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5675" y="6444405"/>
            <a:ext cx="8886006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6-hour delay → Lounge + hotel for delayed hours. Rebooking recognized. ₹2,000 fare waiver escalated — exceeds </a:t>
            </a:r>
            <a:r>
              <a:rPr lang="en-US" sz="2100" b="1" dirty="0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₹1,500</a:t>
            </a:r>
            <a:r>
              <a:rPr lang="en-US" sz="2100" dirty="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limit.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6040" y="7858277"/>
            <a:ext cx="9445285" cy="1342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Python implementation · Streamlit interactive interface · Modular policy engine · JSON data layer · Automated test scenarios · Deployed on Streamlit Community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707822"/>
            <a:ext cx="16303114" cy="87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1"/>
              </a:lnSpc>
            </a:pPr>
            <a:r>
              <a:rPr lang="en-US" sz="5025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Working Prototype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985963"/>
            <a:ext cx="16303114" cy="85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An interactive Streamlit web application demonstrating the full resolution pipeline — from customer selection and booking lookup to natural-language intent handling and policy-grounded responses with human escalation indicators.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07225" y="3098302"/>
            <a:ext cx="5668575" cy="6404524"/>
            <a:chOff x="0" y="0"/>
            <a:chExt cx="7558100" cy="85393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558024" cy="8539352"/>
            </a:xfrm>
            <a:custGeom>
              <a:avLst/>
              <a:gdLst/>
              <a:ahLst/>
              <a:cxnLst/>
              <a:rect l="l" t="t" r="r" b="b"/>
              <a:pathLst>
                <a:path w="7558024" h="8539352">
                  <a:moveTo>
                    <a:pt x="0" y="246634"/>
                  </a:moveTo>
                  <a:cubicBezTo>
                    <a:pt x="0" y="110490"/>
                    <a:pt x="110490" y="0"/>
                    <a:pt x="246634" y="0"/>
                  </a:cubicBezTo>
                  <a:lnTo>
                    <a:pt x="7311390" y="0"/>
                  </a:lnTo>
                  <a:cubicBezTo>
                    <a:pt x="7447661" y="0"/>
                    <a:pt x="7558024" y="110490"/>
                    <a:pt x="7558024" y="246634"/>
                  </a:cubicBezTo>
                  <a:lnTo>
                    <a:pt x="7558024" y="8292719"/>
                  </a:lnTo>
                  <a:cubicBezTo>
                    <a:pt x="7558024" y="8428989"/>
                    <a:pt x="7447534" y="8539352"/>
                    <a:pt x="7311390" y="8539352"/>
                  </a:cubicBezTo>
                  <a:lnTo>
                    <a:pt x="246634" y="8539352"/>
                  </a:lnTo>
                  <a:cubicBezTo>
                    <a:pt x="110490" y="8539353"/>
                    <a:pt x="0" y="8428863"/>
                    <a:pt x="0" y="8292719"/>
                  </a:cubicBezTo>
                  <a:close/>
                </a:path>
              </a:pathLst>
            </a:custGeom>
            <a:solidFill>
              <a:srgbClr val="F2F2F3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64095" y="3319015"/>
            <a:ext cx="5154835" cy="43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Prototype Features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4095" y="3924595"/>
            <a:ext cx="5154835" cy="282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2901" lvl="1" indent="-176451" algn="l">
              <a:lnSpc>
                <a:spcPts val="2971"/>
              </a:lnSpc>
              <a:buFont typeface="Arial"/>
              <a:buChar char="•"/>
            </a:pPr>
            <a:r>
              <a:rPr lang="en-US" sz="19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 selection &amp; booking display</a:t>
            </a:r>
          </a:p>
          <a:p>
            <a:pPr marL="352901" lvl="1" indent="-176451" algn="l">
              <a:lnSpc>
                <a:spcPts val="2971"/>
              </a:lnSpc>
              <a:buFont typeface="Arial"/>
              <a:buChar char="•"/>
            </a:pPr>
            <a:r>
              <a:rPr lang="en-US" sz="19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Flight status &amp; disruption context shown</a:t>
            </a:r>
          </a:p>
          <a:p>
            <a:pPr marL="352901" lvl="1" indent="-176451" algn="l">
              <a:lnSpc>
                <a:spcPts val="2971"/>
              </a:lnSpc>
              <a:buFont typeface="Arial"/>
              <a:buChar char="•"/>
            </a:pPr>
            <a:r>
              <a:rPr lang="en-US" sz="19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Quick test scenario buttons</a:t>
            </a:r>
          </a:p>
          <a:p>
            <a:pPr marL="352901" lvl="1" indent="-176451" algn="l">
              <a:lnSpc>
                <a:spcPts val="2971"/>
              </a:lnSpc>
              <a:buFont typeface="Arial"/>
              <a:buChar char="•"/>
            </a:pPr>
            <a:r>
              <a:rPr lang="en-US" sz="19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Natural-language request input</a:t>
            </a:r>
          </a:p>
          <a:p>
            <a:pPr marL="352901" lvl="1" indent="-176451" algn="l">
              <a:lnSpc>
                <a:spcPts val="2971"/>
              </a:lnSpc>
              <a:buFont typeface="Arial"/>
              <a:buChar char="•"/>
            </a:pPr>
            <a:r>
              <a:rPr lang="en-US" sz="19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Resolution chat with grounded responses</a:t>
            </a:r>
          </a:p>
          <a:p>
            <a:pPr marL="352901" lvl="1" indent="-176451" algn="l">
              <a:lnSpc>
                <a:spcPts val="2971"/>
              </a:lnSpc>
              <a:buFont typeface="Arial"/>
              <a:buChar char="•"/>
            </a:pPr>
            <a:r>
              <a:rPr lang="en-US" sz="19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Human escalation indicators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4095" y="6944173"/>
            <a:ext cx="5154835" cy="43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Live Demo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4095" y="7549753"/>
            <a:ext cx="6069206" cy="458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 b="1" u="sng">
                <a:solidFill>
                  <a:srgbClr val="62626A"/>
                </a:solidFill>
                <a:latin typeface="Roboto Bold"/>
                <a:ea typeface="Roboto Bold"/>
                <a:cs typeface="Roboto Bold"/>
                <a:sym typeface="Roboto Bold"/>
                <a:hlinkClick r:id="rId3" tooltip="https://airresolve-ai-customer-resolution-agent-dd9pryy2fj6e7txypcyxey.streamlit.app/"/>
              </a:rPr>
              <a:t> Launch AirResolve Prototype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4095" y="8202959"/>
            <a:ext cx="5154835" cy="43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Source Code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4095" y="8808539"/>
            <a:ext cx="6069206" cy="458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 b="1" u="sng">
                <a:solidFill>
                  <a:srgbClr val="62626A"/>
                </a:solidFill>
                <a:latin typeface="Roboto Bold"/>
                <a:ea typeface="Roboto Bold"/>
                <a:cs typeface="Roboto Bold"/>
                <a:sym typeface="Roboto Bold"/>
                <a:hlinkClick r:id="rId4" tooltip="https://github.com/srivatsan1467/AirResolve-AI-Customer-Resolution-Agent"/>
              </a:rPr>
              <a:t> View on GitHub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927180" y="3360239"/>
            <a:ext cx="10377526" cy="5880649"/>
            <a:chOff x="0" y="0"/>
            <a:chExt cx="13836701" cy="7840866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3836650" cy="7840853"/>
            </a:xfrm>
            <a:custGeom>
              <a:avLst/>
              <a:gdLst/>
              <a:ahLst/>
              <a:cxnLst/>
              <a:rect l="l" t="t" r="r" b="b"/>
              <a:pathLst>
                <a:path w="13836650" h="7840853">
                  <a:moveTo>
                    <a:pt x="0" y="0"/>
                  </a:moveTo>
                  <a:lnTo>
                    <a:pt x="13836650" y="0"/>
                  </a:lnTo>
                  <a:lnTo>
                    <a:pt x="13836650" y="7840853"/>
                  </a:lnTo>
                  <a:lnTo>
                    <a:pt x="0" y="7840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6" b="-26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1844431"/>
            <a:ext cx="16303114" cy="962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26"/>
              </a:lnSpc>
            </a:pPr>
            <a:r>
              <a:rPr lang="en-US" sz="555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Conclusion &amp; Future Scope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3477225"/>
            <a:ext cx="7805690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What Was Delivered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10" y="4156024"/>
            <a:ext cx="7805690" cy="4111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Working airline customer-resolution prototype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Automates policy-based resolution of common disruption requests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Supports multiple customer intents in a single conversation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Clearly separates automated actions from human escalation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Grounded responses — no invented flights or unsupported compensation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99168" y="3477225"/>
            <a:ext cx="7805690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Future Scope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99168" y="4156024"/>
            <a:ext cx="7805690" cy="3855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Integration with real airline APIs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Real-time flight &amp; seat availability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LLM-powered conversational understanding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RAG-based policy &amp; document retrieval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CRM / ticketing system integration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Analytics &amp; monitoring dashboard</a:t>
            </a: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Multilingual customer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729</Words>
  <Application>Microsoft Office PowerPoint</Application>
  <PresentationFormat>Custom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Roboto Bold</vt:lpstr>
      <vt:lpstr>Calibri (MS)</vt:lpstr>
      <vt:lpstr>Calibri (MS) Italics</vt:lpstr>
      <vt:lpstr>Consolas</vt:lpstr>
      <vt:lpstr>Arial</vt:lpstr>
      <vt:lpstr>Roboto</vt:lpstr>
      <vt:lpstr>Poppins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AirResolve-AI-Powered-Customer-Resolution-Agent.pptx</dc:title>
  <cp:lastModifiedBy>Srivatsan Raghavan</cp:lastModifiedBy>
  <cp:revision>6</cp:revision>
  <dcterms:created xsi:type="dcterms:W3CDTF">2006-08-16T00:00:00Z</dcterms:created>
  <dcterms:modified xsi:type="dcterms:W3CDTF">2026-09-17T12:34:25Z</dcterms:modified>
  <dc:identifier>DAHVcxTqiEk</dc:identifier>
</cp:coreProperties>
</file>